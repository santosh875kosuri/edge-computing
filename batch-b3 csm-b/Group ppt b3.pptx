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3287" y="1735518"/>
            <a:ext cx="2134870" cy="4136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199"/>
                </a:lnTo>
                <a:lnTo>
                  <a:pt x="9144000" y="457199"/>
                </a:lnTo>
                <a:lnTo>
                  <a:pt x="9144000" y="0"/>
                </a:lnTo>
                <a:close/>
              </a:path>
            </a:pathLst>
          </a:custGeom>
          <a:solidFill>
            <a:srgbClr val="BA55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9144000" cy="66675"/>
          </a:xfrm>
          <a:custGeom>
            <a:avLst/>
            <a:gdLst/>
            <a:ahLst/>
            <a:cxnLst/>
            <a:rect l="l" t="t" r="r" b="b"/>
            <a:pathLst>
              <a:path w="9144000" h="66675">
                <a:moveTo>
                  <a:pt x="9144000" y="0"/>
                </a:moveTo>
                <a:lnTo>
                  <a:pt x="0" y="0"/>
                </a:lnTo>
                <a:lnTo>
                  <a:pt x="0" y="66675"/>
                </a:lnTo>
                <a:lnTo>
                  <a:pt x="9144000" y="666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1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0112" y="1747901"/>
            <a:ext cx="7477125" cy="0"/>
          </a:xfrm>
          <a:custGeom>
            <a:avLst/>
            <a:gdLst/>
            <a:ahLst/>
            <a:cxnLst/>
            <a:rect l="l" t="t" r="r" b="b"/>
            <a:pathLst>
              <a:path w="7477125">
                <a:moveTo>
                  <a:pt x="0" y="0"/>
                </a:moveTo>
                <a:lnTo>
                  <a:pt x="7476553" y="0"/>
                </a:lnTo>
              </a:path>
            </a:pathLst>
          </a:custGeom>
          <a:ln w="6350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717" y="344424"/>
            <a:ext cx="7874000" cy="1418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0351" y="1709166"/>
            <a:ext cx="7567295" cy="294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1809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467" y="1942718"/>
            <a:ext cx="7642859" cy="13481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ct val="85100"/>
              </a:lnSpc>
              <a:spcBef>
                <a:spcPts val="700"/>
              </a:spcBef>
              <a:tabLst>
                <a:tab pos="4749800" algn="l"/>
              </a:tabLst>
            </a:pPr>
            <a:r>
              <a:rPr sz="3200" dirty="0">
                <a:solidFill>
                  <a:srgbClr val="6D2D9F"/>
                </a:solidFill>
              </a:rPr>
              <a:t>EMPOWERING</a:t>
            </a:r>
            <a:r>
              <a:rPr sz="3200" spc="5" dirty="0">
                <a:solidFill>
                  <a:srgbClr val="6D2D9F"/>
                </a:solidFill>
              </a:rPr>
              <a:t> </a:t>
            </a:r>
            <a:r>
              <a:rPr sz="3200" spc="-35" dirty="0">
                <a:solidFill>
                  <a:srgbClr val="6D2D9F"/>
                </a:solidFill>
              </a:rPr>
              <a:t>REAL</a:t>
            </a:r>
            <a:r>
              <a:rPr sz="3200" spc="-260" dirty="0">
                <a:solidFill>
                  <a:srgbClr val="6D2D9F"/>
                </a:solidFill>
              </a:rPr>
              <a:t> </a:t>
            </a:r>
            <a:r>
              <a:rPr sz="3200" dirty="0">
                <a:solidFill>
                  <a:srgbClr val="6D2D9F"/>
                </a:solidFill>
              </a:rPr>
              <a:t>–</a:t>
            </a:r>
            <a:r>
              <a:rPr sz="3200" spc="-180" dirty="0">
                <a:solidFill>
                  <a:srgbClr val="6D2D9F"/>
                </a:solidFill>
              </a:rPr>
              <a:t> </a:t>
            </a:r>
            <a:r>
              <a:rPr sz="3200" spc="-20" dirty="0">
                <a:solidFill>
                  <a:srgbClr val="6D2D9F"/>
                </a:solidFill>
              </a:rPr>
              <a:t>TIME</a:t>
            </a:r>
            <a:r>
              <a:rPr sz="3200" dirty="0">
                <a:solidFill>
                  <a:srgbClr val="6D2D9F"/>
                </a:solidFill>
              </a:rPr>
              <a:t>	</a:t>
            </a:r>
            <a:r>
              <a:rPr sz="3200" spc="-10" dirty="0">
                <a:solidFill>
                  <a:srgbClr val="6D2D9F"/>
                </a:solidFill>
              </a:rPr>
              <a:t>ECONOMIC </a:t>
            </a:r>
            <a:r>
              <a:rPr sz="3200" dirty="0">
                <a:solidFill>
                  <a:srgbClr val="6D2D9F"/>
                </a:solidFill>
              </a:rPr>
              <a:t>DECISIONS</a:t>
            </a:r>
            <a:r>
              <a:rPr sz="3200" spc="15" dirty="0">
                <a:solidFill>
                  <a:srgbClr val="6D2D9F"/>
                </a:solidFill>
              </a:rPr>
              <a:t> </a:t>
            </a:r>
            <a:r>
              <a:rPr sz="3200" dirty="0">
                <a:solidFill>
                  <a:srgbClr val="6D2D9F"/>
                </a:solidFill>
              </a:rPr>
              <a:t>THROUGH</a:t>
            </a:r>
            <a:r>
              <a:rPr sz="3200" spc="70" dirty="0">
                <a:solidFill>
                  <a:srgbClr val="6D2D9F"/>
                </a:solidFill>
              </a:rPr>
              <a:t> </a:t>
            </a:r>
            <a:r>
              <a:rPr sz="3200" spc="-20" dirty="0">
                <a:solidFill>
                  <a:srgbClr val="6D2D9F"/>
                </a:solidFill>
              </a:rPr>
              <a:t>EDGE</a:t>
            </a:r>
            <a:r>
              <a:rPr sz="3200" dirty="0">
                <a:solidFill>
                  <a:srgbClr val="6D2D9F"/>
                </a:solidFill>
              </a:rPr>
              <a:t>	COMPUTING</a:t>
            </a:r>
            <a:r>
              <a:rPr sz="3200" spc="25" dirty="0">
                <a:solidFill>
                  <a:srgbClr val="6D2D9F"/>
                </a:solidFill>
              </a:rPr>
              <a:t> </a:t>
            </a:r>
            <a:r>
              <a:rPr sz="3200" spc="-25" dirty="0">
                <a:solidFill>
                  <a:srgbClr val="6D2D9F"/>
                </a:solidFill>
              </a:rPr>
              <a:t>FOR </a:t>
            </a:r>
            <a:r>
              <a:rPr sz="3200" dirty="0">
                <a:solidFill>
                  <a:srgbClr val="6D2D9F"/>
                </a:solidFill>
              </a:rPr>
              <a:t>MINIMAL</a:t>
            </a:r>
            <a:r>
              <a:rPr sz="3200" spc="235" dirty="0">
                <a:solidFill>
                  <a:srgbClr val="6D2D9F"/>
                </a:solidFill>
              </a:rPr>
              <a:t> </a:t>
            </a:r>
            <a:r>
              <a:rPr sz="3200" spc="-10" dirty="0">
                <a:solidFill>
                  <a:srgbClr val="6D2D9F"/>
                </a:solidFill>
              </a:rPr>
              <a:t>LATENCY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647054" y="4422076"/>
            <a:ext cx="295211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6DC0"/>
                </a:solidFill>
                <a:latin typeface="Calibri"/>
                <a:cs typeface="Calibri"/>
              </a:rPr>
              <a:t>Presented</a:t>
            </a:r>
            <a:r>
              <a:rPr sz="1800" spc="-60" dirty="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6DC0"/>
                </a:solidFill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99378" y="4976812"/>
            <a:ext cx="1420495" cy="2816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0" dirty="0" err="1">
                <a:latin typeface="Calibri"/>
                <a:cs typeface="Calibri"/>
              </a:rPr>
              <a:t>K.Santosh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63383" y="4976812"/>
            <a:ext cx="1333500" cy="2816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3020" algn="just">
              <a:lnSpc>
                <a:spcPct val="100800"/>
              </a:lnSpc>
              <a:spcBef>
                <a:spcPts val="85"/>
              </a:spcBef>
            </a:pPr>
            <a:r>
              <a:rPr sz="1800" spc="-30" dirty="0">
                <a:latin typeface="Calibri"/>
                <a:cs typeface="Calibri"/>
              </a:rPr>
              <a:t>(23UJ1A6676)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467" y="4808537"/>
            <a:ext cx="2737485" cy="9036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spc="-10" dirty="0">
                <a:solidFill>
                  <a:srgbClr val="006DC0"/>
                </a:solidFill>
                <a:latin typeface="Calibri"/>
                <a:cs typeface="Calibri"/>
              </a:rPr>
              <a:t>Under</a:t>
            </a:r>
            <a:r>
              <a:rPr sz="1800" spc="-80" dirty="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6DC0"/>
                </a:solidFill>
                <a:latin typeface="Calibri"/>
                <a:cs typeface="Calibri"/>
              </a:rPr>
              <a:t>esteemed</a:t>
            </a:r>
            <a:r>
              <a:rPr sz="1800" spc="-35" dirty="0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DC0"/>
                </a:solidFill>
                <a:latin typeface="Calibri"/>
                <a:cs typeface="Calibri"/>
              </a:rPr>
              <a:t>guidance</a:t>
            </a:r>
            <a:r>
              <a:rPr sz="1800" spc="-25" dirty="0">
                <a:solidFill>
                  <a:srgbClr val="006DC0"/>
                </a:solidFill>
                <a:latin typeface="Calibri"/>
                <a:cs typeface="Calibri"/>
              </a:rPr>
              <a:t> of: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latin typeface="Arial MT"/>
                <a:cs typeface="Arial MT"/>
              </a:rPr>
              <a:t>Dr.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RAMESH</a:t>
            </a:r>
            <a:r>
              <a:rPr sz="1800" spc="-20" dirty="0">
                <a:latin typeface="Arial MT"/>
                <a:cs typeface="Arial MT"/>
              </a:rPr>
              <a:t> BABU</a:t>
            </a:r>
            <a:endParaRPr sz="18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Ph.D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Assist.professor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287" y="1050036"/>
            <a:ext cx="10090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30" dirty="0"/>
              <a:t>Index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90"/>
              </a:spcBef>
              <a:buFont typeface="Wingdings"/>
              <a:buChar char=""/>
              <a:tabLst>
                <a:tab pos="298450" algn="l"/>
              </a:tabLst>
            </a:pPr>
            <a:r>
              <a:rPr spc="-10" dirty="0"/>
              <a:t>Abstract</a:t>
            </a:r>
          </a:p>
          <a:p>
            <a:pPr marL="298450" indent="-285750">
              <a:lnSpc>
                <a:spcPct val="100000"/>
              </a:lnSpc>
              <a:spcBef>
                <a:spcPts val="995"/>
              </a:spcBef>
              <a:buFont typeface="Wingdings"/>
              <a:buChar char=""/>
              <a:tabLst>
                <a:tab pos="298450" algn="l"/>
              </a:tabLst>
            </a:pPr>
            <a:r>
              <a:rPr spc="-10" dirty="0"/>
              <a:t>Introduction</a:t>
            </a:r>
          </a:p>
          <a:p>
            <a:pPr marL="298450" indent="-285750">
              <a:lnSpc>
                <a:spcPct val="100000"/>
              </a:lnSpc>
              <a:spcBef>
                <a:spcPts val="990"/>
              </a:spcBef>
              <a:buFont typeface="Wingdings"/>
              <a:buChar char=""/>
              <a:tabLst>
                <a:tab pos="298450" algn="l"/>
              </a:tabLst>
            </a:pPr>
            <a:r>
              <a:rPr spc="-10" dirty="0"/>
              <a:t>Motivation</a:t>
            </a:r>
          </a:p>
          <a:p>
            <a:pPr marL="298450" indent="-285750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/>
              <a:t>Problem</a:t>
            </a:r>
            <a:r>
              <a:rPr spc="35" dirty="0"/>
              <a:t> </a:t>
            </a:r>
            <a:r>
              <a:rPr spc="-10" dirty="0"/>
              <a:t>Definition</a:t>
            </a:r>
          </a:p>
          <a:p>
            <a:pPr marL="341630" indent="-328930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341630" algn="l"/>
              </a:tabLst>
            </a:pPr>
            <a:r>
              <a:rPr dirty="0"/>
              <a:t>Literature</a:t>
            </a:r>
            <a:r>
              <a:rPr spc="30" dirty="0"/>
              <a:t> </a:t>
            </a:r>
            <a:r>
              <a:rPr spc="-10" dirty="0"/>
              <a:t>Survey</a:t>
            </a:r>
          </a:p>
          <a:p>
            <a:pPr marL="298450" indent="-285750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/>
              <a:t>Research </a:t>
            </a:r>
            <a:r>
              <a:rPr spc="-20" dirty="0"/>
              <a:t>Gaps</a:t>
            </a:r>
          </a:p>
          <a:p>
            <a:pPr marL="298450" indent="-285750">
              <a:lnSpc>
                <a:spcPct val="100000"/>
              </a:lnSpc>
              <a:spcBef>
                <a:spcPts val="1595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/>
              <a:t>Proposed</a:t>
            </a:r>
            <a:r>
              <a:rPr spc="50" dirty="0"/>
              <a:t> </a:t>
            </a:r>
            <a:r>
              <a:rPr spc="-10" dirty="0"/>
              <a:t>Systems</a:t>
            </a:r>
          </a:p>
          <a:p>
            <a:pPr marL="298450" indent="-285750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298450" algn="l"/>
              </a:tabLst>
            </a:pPr>
            <a:r>
              <a:rPr dirty="0"/>
              <a:t>Existing</a:t>
            </a:r>
            <a:r>
              <a:rPr spc="-40" dirty="0"/>
              <a:t> </a:t>
            </a:r>
            <a:r>
              <a:rPr spc="-10" dirty="0"/>
              <a:t>Methodology</a:t>
            </a:r>
          </a:p>
          <a:p>
            <a:pPr marL="298450" indent="-285750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298450" algn="l"/>
              </a:tabLst>
            </a:pPr>
            <a:r>
              <a:rPr spc="-10" dirty="0"/>
              <a:t>Drawbacks</a:t>
            </a:r>
          </a:p>
          <a:p>
            <a:pPr marL="298450" indent="-285750">
              <a:lnSpc>
                <a:spcPct val="100000"/>
              </a:lnSpc>
              <a:spcBef>
                <a:spcPts val="1595"/>
              </a:spcBef>
              <a:buFont typeface="Wingdings"/>
              <a:buChar char=""/>
              <a:tabLst>
                <a:tab pos="298450" algn="l"/>
              </a:tabLst>
            </a:pPr>
            <a:r>
              <a:rPr spc="-10" dirty="0"/>
              <a:t>ProposedMethodology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39030" y="1780857"/>
            <a:ext cx="2953385" cy="3493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9845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Detailed</a:t>
            </a:r>
            <a:r>
              <a:rPr sz="155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Proposed</a:t>
            </a:r>
            <a:r>
              <a:rPr sz="155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Methodology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575"/>
              </a:spcBef>
              <a:buFont typeface="Wingdings"/>
              <a:buChar char=""/>
              <a:tabLst>
                <a:tab pos="29845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sz="155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404040"/>
                </a:solidFill>
                <a:latin typeface="Calibri"/>
                <a:cs typeface="Calibri"/>
              </a:rPr>
              <a:t>Code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15"/>
              </a:spcBef>
              <a:buFont typeface="Wingdings"/>
              <a:buChar char=""/>
              <a:tabLst>
                <a:tab pos="29845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Packages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endParaRPr sz="1550">
              <a:latin typeface="Calibri"/>
              <a:cs typeface="Calibri"/>
            </a:endParaRPr>
          </a:p>
          <a:p>
            <a:pPr marL="306070" indent="-285750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0607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Result</a:t>
            </a:r>
            <a:r>
              <a:rPr sz="15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Analysis</a:t>
            </a:r>
            <a:endParaRPr sz="1550">
              <a:latin typeface="Calibri"/>
              <a:cs typeface="Calibri"/>
            </a:endParaRPr>
          </a:p>
          <a:p>
            <a:pPr marL="306070" indent="-285750">
              <a:lnSpc>
                <a:spcPct val="100000"/>
              </a:lnSpc>
              <a:spcBef>
                <a:spcPts val="1220"/>
              </a:spcBef>
              <a:buFont typeface="Wingdings"/>
              <a:buChar char=""/>
              <a:tabLst>
                <a:tab pos="30607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155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29845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Advantages</a:t>
            </a:r>
            <a:r>
              <a:rPr sz="15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Applications</a:t>
            </a:r>
            <a:endParaRPr sz="1550">
              <a:latin typeface="Calibri"/>
              <a:cs typeface="Calibri"/>
            </a:endParaRPr>
          </a:p>
          <a:p>
            <a:pPr marL="306070" indent="-285750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06070" algn="l"/>
              </a:tabLst>
            </a:pP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Conclusion</a:t>
            </a:r>
            <a:endParaRPr sz="1550">
              <a:latin typeface="Calibri"/>
              <a:cs typeface="Calibri"/>
            </a:endParaRPr>
          </a:p>
          <a:p>
            <a:pPr marL="306070" indent="-28575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06070" algn="l"/>
              </a:tabLst>
            </a:pPr>
            <a:r>
              <a:rPr sz="1550" dirty="0">
                <a:solidFill>
                  <a:srgbClr val="404040"/>
                </a:solidFill>
                <a:latin typeface="Calibri"/>
                <a:cs typeface="Calibri"/>
              </a:rPr>
              <a:t>Future</a:t>
            </a:r>
            <a:r>
              <a:rPr sz="15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endParaRPr sz="15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298450" algn="l"/>
              </a:tabLst>
            </a:pPr>
            <a:r>
              <a:rPr sz="1550" spc="-10" dirty="0">
                <a:solidFill>
                  <a:srgbClr val="404040"/>
                </a:solidFill>
                <a:latin typeface="Calibri"/>
                <a:cs typeface="Calibri"/>
              </a:rPr>
              <a:t>References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77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007" y="2203386"/>
            <a:ext cx="7675245" cy="17081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(EC)</a:t>
            </a:r>
            <a:r>
              <a:rPr sz="20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technology</a:t>
            </a:r>
            <a:r>
              <a:rPr sz="200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extends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Computing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(CC)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services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closer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sources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Present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Generation,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timely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sz="200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important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maintaining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sectors</a:t>
            </a:r>
            <a:r>
              <a:rPr sz="2000" spc="2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2000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2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finance,</a:t>
            </a:r>
            <a:r>
              <a:rPr sz="2000" spc="2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Retail,</a:t>
            </a:r>
            <a:r>
              <a:rPr sz="20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Supply</a:t>
            </a:r>
            <a:r>
              <a:rPr sz="2000" spc="2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chain</a:t>
            </a:r>
            <a:r>
              <a:rPr sz="20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2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Smart</a:t>
            </a:r>
            <a:r>
              <a:rPr sz="2000" spc="2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Infrastructure</a:t>
            </a:r>
            <a:r>
              <a:rPr sz="20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.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200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Explores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Implementation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Solution</a:t>
            </a:r>
            <a:r>
              <a:rPr sz="2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Enable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Minimal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Latency.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525" y="2068512"/>
            <a:ext cx="7402195" cy="2546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8585" marR="694055" indent="-96520">
              <a:lnSpc>
                <a:spcPts val="2250"/>
              </a:lnSpc>
              <a:spcBef>
                <a:spcPts val="325"/>
              </a:spcBef>
              <a:buClr>
                <a:srgbClr val="E18312"/>
              </a:buClr>
              <a:buSzPct val="92500"/>
              <a:buFont typeface="Wingdings"/>
              <a:buChar char=""/>
              <a:tabLst>
                <a:tab pos="108585" algn="l"/>
                <a:tab pos="21717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In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Today's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environments,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essential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Efficient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decisions.</a:t>
            </a:r>
            <a:endParaRPr sz="2000">
              <a:latin typeface="Calibri"/>
              <a:cs typeface="Calibri"/>
            </a:endParaRPr>
          </a:p>
          <a:p>
            <a:pPr marL="217804" indent="-205104">
              <a:lnSpc>
                <a:spcPct val="100000"/>
              </a:lnSpc>
              <a:spcBef>
                <a:spcPts val="1085"/>
              </a:spcBef>
              <a:buClr>
                <a:srgbClr val="E18312"/>
              </a:buClr>
              <a:buSzPct val="92500"/>
              <a:buFont typeface="Wingdings"/>
              <a:buChar char=""/>
              <a:tabLst>
                <a:tab pos="217804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processes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near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source.</a:t>
            </a:r>
            <a:endParaRPr sz="2000">
              <a:latin typeface="Calibri"/>
              <a:cs typeface="Calibri"/>
            </a:endParaRPr>
          </a:p>
          <a:p>
            <a:pPr marL="108585" marR="5080" indent="-96520">
              <a:lnSpc>
                <a:spcPts val="2250"/>
              </a:lnSpc>
              <a:spcBef>
                <a:spcPts val="1330"/>
              </a:spcBef>
              <a:buClr>
                <a:srgbClr val="E18312"/>
              </a:buClr>
              <a:buSzPct val="92500"/>
              <a:buFont typeface="Wingdings"/>
              <a:buChar char=""/>
              <a:tabLst>
                <a:tab pos="108585" algn="l"/>
                <a:tab pos="21717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Edge</a:t>
            </a:r>
            <a:r>
              <a:rPr sz="2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minimize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travel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3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reduces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Latency.</a:t>
            </a:r>
            <a:endParaRPr sz="2000">
              <a:latin typeface="Calibri"/>
              <a:cs typeface="Calibri"/>
            </a:endParaRPr>
          </a:p>
          <a:p>
            <a:pPr marL="108585" marR="414020" indent="-96520">
              <a:lnSpc>
                <a:spcPts val="2330"/>
              </a:lnSpc>
              <a:spcBef>
                <a:spcPts val="1215"/>
              </a:spcBef>
              <a:buClr>
                <a:srgbClr val="E18312"/>
              </a:buClr>
              <a:buSzPct val="92500"/>
              <a:buFont typeface="Wingdings"/>
              <a:buChar char=""/>
              <a:tabLst>
                <a:tab pos="108585" algn="l"/>
                <a:tab pos="217170" algn="l"/>
              </a:tabLst>
            </a:pP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	To</a:t>
            </a:r>
            <a:r>
              <a:rPr sz="20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demonstrate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transform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speed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accuracy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critical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605" y="210502"/>
            <a:ext cx="26593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3592" y="1801113"/>
            <a:ext cx="7494270" cy="2824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6525" indent="-123825">
              <a:lnSpc>
                <a:spcPts val="2330"/>
              </a:lnSpc>
              <a:spcBef>
                <a:spcPts val="130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3652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2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modern</a:t>
            </a:r>
            <a:r>
              <a:rPr sz="20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economies,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2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3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crucial</a:t>
            </a:r>
            <a:r>
              <a:rPr sz="2000" spc="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sectors</a:t>
            </a:r>
            <a:endParaRPr sz="2000">
              <a:latin typeface="Calibri"/>
              <a:cs typeface="Calibri"/>
            </a:endParaRPr>
          </a:p>
          <a:p>
            <a:pPr marL="111125">
              <a:lnSpc>
                <a:spcPts val="233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finance,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retail,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supply</a:t>
            </a:r>
            <a:r>
              <a:rPr sz="2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chain.</a:t>
            </a:r>
            <a:endParaRPr sz="2000">
              <a:latin typeface="Calibri"/>
              <a:cs typeface="Calibri"/>
            </a:endParaRPr>
          </a:p>
          <a:p>
            <a:pPr marL="111125" marR="5715" indent="-99060">
              <a:lnSpc>
                <a:spcPts val="2250"/>
              </a:lnSpc>
              <a:spcBef>
                <a:spcPts val="140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Traditional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introduces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latency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due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centralized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processing.</a:t>
            </a:r>
            <a:endParaRPr sz="2000">
              <a:latin typeface="Calibri"/>
              <a:cs typeface="Calibri"/>
            </a:endParaRPr>
          </a:p>
          <a:p>
            <a:pPr marL="111125" marR="25400" indent="-99060">
              <a:lnSpc>
                <a:spcPts val="2180"/>
              </a:lnSpc>
              <a:spcBef>
                <a:spcPts val="1410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High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latency</a:t>
            </a:r>
            <a:r>
              <a:rPr sz="20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delayed</a:t>
            </a:r>
            <a:r>
              <a:rPr sz="20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actions,</a:t>
            </a:r>
            <a:r>
              <a:rPr sz="2000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missed</a:t>
            </a:r>
            <a:r>
              <a:rPr sz="20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opportunities,</a:t>
            </a:r>
            <a:r>
              <a:rPr sz="200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reduced</a:t>
            </a:r>
            <a:r>
              <a:rPr sz="20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efficiency.</a:t>
            </a:r>
            <a:endParaRPr sz="2000">
              <a:latin typeface="Calibri"/>
              <a:cs typeface="Calibri"/>
            </a:endParaRPr>
          </a:p>
          <a:p>
            <a:pPr marL="111125" marR="10795" indent="-99060">
              <a:lnSpc>
                <a:spcPts val="2100"/>
              </a:lnSpc>
              <a:spcBef>
                <a:spcPts val="1490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It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allows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instant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analysis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needing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distant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servers.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Problem</a:t>
            </a:r>
            <a:r>
              <a:rPr spc="-220" dirty="0"/>
              <a:t> </a:t>
            </a:r>
            <a:r>
              <a:rPr spc="-2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287" y="1804924"/>
            <a:ext cx="7524115" cy="19856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just">
              <a:lnSpc>
                <a:spcPct val="90200"/>
              </a:lnSpc>
              <a:spcBef>
                <a:spcPts val="3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commonly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depends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centralized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collect</a:t>
            </a:r>
            <a:r>
              <a:rPr sz="200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process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analyse</a:t>
            </a:r>
            <a:r>
              <a:rPr sz="2000" spc="2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Centralized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000" spc="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process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48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4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4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delays</a:t>
            </a:r>
            <a:r>
              <a:rPr sz="2000" spc="4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484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4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</a:t>
            </a:r>
            <a:r>
              <a:rPr sz="2000" spc="4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4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wrong</a:t>
            </a:r>
            <a:r>
              <a:rPr sz="2000" spc="4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decisions.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3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enhance</a:t>
            </a:r>
            <a:r>
              <a:rPr sz="20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problem</a:t>
            </a:r>
            <a:r>
              <a:rPr sz="20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2000" spc="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introduced.</a:t>
            </a:r>
            <a:r>
              <a:rPr sz="2000" spc="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3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Edge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4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Servers</a:t>
            </a:r>
            <a:r>
              <a:rPr sz="2000" spc="48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4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2000" spc="48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4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4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000" spc="4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modifies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2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82" y="-67627"/>
            <a:ext cx="419735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Literature</a:t>
            </a:r>
            <a:r>
              <a:rPr spc="-270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5449442"/>
            <a:ext cx="9137650" cy="1400810"/>
          </a:xfrm>
          <a:custGeom>
            <a:avLst/>
            <a:gdLst/>
            <a:ahLst/>
            <a:cxnLst/>
            <a:rect l="l" t="t" r="r" b="b"/>
            <a:pathLst>
              <a:path w="9137650" h="1400809">
                <a:moveTo>
                  <a:pt x="9137650" y="0"/>
                </a:moveTo>
                <a:lnTo>
                  <a:pt x="9137650" y="0"/>
                </a:lnTo>
                <a:lnTo>
                  <a:pt x="0" y="0"/>
                </a:lnTo>
                <a:lnTo>
                  <a:pt x="0" y="1400810"/>
                </a:lnTo>
                <a:lnTo>
                  <a:pt x="9137650" y="1400810"/>
                </a:lnTo>
                <a:lnTo>
                  <a:pt x="9137650" y="0"/>
                </a:lnTo>
                <a:close/>
              </a:path>
            </a:pathLst>
          </a:custGeom>
          <a:solidFill>
            <a:srgbClr val="FCEEE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850138"/>
          <a:ext cx="9220200" cy="599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595"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r>
                        <a:rPr sz="950" b="1" spc="1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b="1" spc="2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95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950" b="1" spc="1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950" b="1" spc="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contribution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Drawbracks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5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Bharath</a:t>
                      </a:r>
                      <a:r>
                        <a:rPr sz="95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Kumar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Gaddam(2024)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7000" marR="551815" indent="38100" algn="ctr">
                        <a:lnSpc>
                          <a:spcPct val="111900"/>
                        </a:lnSpc>
                      </a:pPr>
                      <a:r>
                        <a:rPr sz="950" spc="-2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Computing</a:t>
                      </a:r>
                      <a:r>
                        <a:rPr sz="95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Financial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R="4305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Analytics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9060" marR="106680">
                        <a:lnSpc>
                          <a:spcPct val="109200"/>
                        </a:lnSpc>
                        <a:spcBef>
                          <a:spcPts val="715"/>
                        </a:spcBef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Traditional</a:t>
                      </a:r>
                      <a:r>
                        <a:rPr sz="9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cloud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95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relies</a:t>
                      </a:r>
                      <a:r>
                        <a:rPr sz="95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centralized</a:t>
                      </a:r>
                      <a:r>
                        <a:rPr sz="9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centers,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suffers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950" b="1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latency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(milliseconds</a:t>
                      </a:r>
                      <a:r>
                        <a:rPr sz="950" b="1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b="1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seconds)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10" dirty="0">
                          <a:latin typeface="Calibri"/>
                          <a:cs typeface="Calibri"/>
                        </a:rPr>
                        <a:t>slower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1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2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time-sensitive</a:t>
                      </a:r>
                      <a:r>
                        <a:rPr sz="95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financial applications.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138430">
                        <a:lnSpc>
                          <a:spcPct val="108700"/>
                        </a:lnSpc>
                        <a:spcBef>
                          <a:spcPts val="720"/>
                        </a:spcBef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b="1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950" b="1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architecture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applied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95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achieve</a:t>
                      </a:r>
                      <a:r>
                        <a:rPr sz="95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sub-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millisecond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latency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95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real-time</a:t>
                      </a:r>
                      <a:r>
                        <a:rPr sz="95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fraud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detection,</a:t>
                      </a:r>
                      <a:r>
                        <a:rPr sz="950" spc="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high-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frequency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00965" marR="95250">
                        <a:lnSpc>
                          <a:spcPct val="108700"/>
                        </a:lnSpc>
                        <a:spcBef>
                          <a:spcPts val="4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trading,</a:t>
                      </a:r>
                      <a:r>
                        <a:rPr sz="9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distributed</a:t>
                      </a:r>
                      <a:r>
                        <a:rPr sz="95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management</a:t>
                      </a:r>
                      <a:r>
                        <a:rPr sz="9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95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edge-</a:t>
                      </a:r>
                      <a:r>
                        <a:rPr sz="950" b="1" spc="-2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 decision-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making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122555">
                        <a:lnSpc>
                          <a:spcPct val="109400"/>
                        </a:lnSpc>
                        <a:spcBef>
                          <a:spcPts val="71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Demonstrates</a:t>
                      </a:r>
                      <a:r>
                        <a:rPr sz="950" spc="3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latency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9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95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80%</a:t>
                      </a:r>
                      <a:r>
                        <a:rPr sz="9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9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95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9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high-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frequency</a:t>
                      </a:r>
                      <a:r>
                        <a:rPr sz="950" spc="3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trading</a:t>
                      </a:r>
                      <a:r>
                        <a:rPr sz="9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fraud</a:t>
                      </a:r>
                      <a:r>
                        <a:rPr sz="95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detection.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fragmentation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Tariq</a:t>
                      </a:r>
                      <a:r>
                        <a:rPr sz="9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Al-Momani</a:t>
                      </a:r>
                      <a:r>
                        <a:rPr sz="95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et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spc="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(2023)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9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time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decision-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making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47955" algn="ctr">
                        <a:lnSpc>
                          <a:spcPct val="105400"/>
                        </a:lnSpc>
                        <a:spcBef>
                          <a:spcPts val="22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Centralized</a:t>
                      </a:r>
                      <a:r>
                        <a:rPr sz="95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architectures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lack</a:t>
                      </a:r>
                      <a:r>
                        <a:rPr sz="9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flexibility</a:t>
                      </a:r>
                      <a:r>
                        <a:rPr sz="95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support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diverse</a:t>
                      </a:r>
                      <a:r>
                        <a:rPr sz="9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9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service demands.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50" spc="10" dirty="0">
                          <a:latin typeface="Calibri"/>
                          <a:cs typeface="Calibri"/>
                        </a:rPr>
                        <a:t>Introduces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9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integrated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73025" marR="228600">
                        <a:lnSpc>
                          <a:spcPts val="1800"/>
                        </a:lnSpc>
                        <a:spcBef>
                          <a:spcPts val="25"/>
                        </a:spcBef>
                      </a:pPr>
                      <a:r>
                        <a:rPr sz="950" spc="10" dirty="0"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combining</a:t>
                      </a:r>
                      <a:r>
                        <a:rPr sz="95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25" dirty="0">
                          <a:latin typeface="Calibri"/>
                          <a:cs typeface="Calibri"/>
                        </a:rPr>
                        <a:t>MEC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950" b="1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slicing</a:t>
                      </a:r>
                      <a:r>
                        <a:rPr sz="950" b="1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customize</a:t>
                      </a:r>
                      <a:r>
                        <a:rPr sz="9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resources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services.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269240">
                        <a:lnSpc>
                          <a:spcPct val="109400"/>
                        </a:lnSpc>
                        <a:spcBef>
                          <a:spcPts val="13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9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enhances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low-</a:t>
                      </a:r>
                      <a:r>
                        <a:rPr sz="9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latency,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privacy,</a:t>
                      </a:r>
                      <a:r>
                        <a:rPr sz="95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bandwidth</a:t>
                      </a:r>
                      <a:r>
                        <a:rPr sz="95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sectors</a:t>
                      </a:r>
                      <a:r>
                        <a:rPr sz="950" spc="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cities</a:t>
                      </a:r>
                      <a:r>
                        <a:rPr sz="95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and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943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healthcare.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Computational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Resources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179705" marR="1054735">
                        <a:lnSpc>
                          <a:spcPct val="108700"/>
                        </a:lnSpc>
                        <a:spcBef>
                          <a:spcPts val="220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Haftay.G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Abra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(2022)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9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time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decision-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making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147320" algn="ctr">
                        <a:lnSpc>
                          <a:spcPct val="105400"/>
                        </a:lnSpc>
                        <a:spcBef>
                          <a:spcPts val="23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Centralized</a:t>
                      </a:r>
                      <a:r>
                        <a:rPr sz="9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architectures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lack</a:t>
                      </a:r>
                      <a:r>
                        <a:rPr sz="9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flexibility</a:t>
                      </a:r>
                      <a:r>
                        <a:rPr sz="95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support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diverse</a:t>
                      </a:r>
                      <a:r>
                        <a:rPr sz="95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9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service demands.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97485">
                        <a:lnSpc>
                          <a:spcPct val="105400"/>
                        </a:lnSpc>
                        <a:spcBef>
                          <a:spcPts val="23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privacy-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preserving 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9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enabling 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decentralized</a:t>
                      </a:r>
                      <a:r>
                        <a:rPr sz="95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training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without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sharing</a:t>
                      </a:r>
                      <a:r>
                        <a:rPr sz="9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raw</a:t>
                      </a:r>
                      <a:r>
                        <a:rPr sz="9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data.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393700">
                        <a:lnSpc>
                          <a:spcPct val="109800"/>
                        </a:lnSpc>
                        <a:spcBef>
                          <a:spcPts val="13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950" spc="3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real-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processing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95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privacy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avoiding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9431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raw</a:t>
                      </a:r>
                      <a:r>
                        <a:rPr sz="95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9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sharing.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9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Vulnerabilities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17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ShreshthTuli,S.Ilaer(2020)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266065" marR="238760" indent="635" algn="ctr">
                        <a:lnSpc>
                          <a:spcPct val="109800"/>
                        </a:lnSpc>
                        <a:spcBef>
                          <a:spcPts val="15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Scheduling</a:t>
                      </a:r>
                      <a:r>
                        <a:rPr sz="950" spc="3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edge-cloud</a:t>
                      </a:r>
                      <a:r>
                        <a:rPr sz="95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using reinforcement learning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33985">
                        <a:lnSpc>
                          <a:spcPct val="105400"/>
                        </a:lnSpc>
                        <a:spcBef>
                          <a:spcPts val="25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Prior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95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9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Decima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fair</a:t>
                      </a:r>
                      <a:r>
                        <a:rPr sz="95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scheduling</a:t>
                      </a:r>
                      <a:r>
                        <a:rPr sz="95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either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suffer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9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slow</a:t>
                      </a:r>
                      <a:r>
                        <a:rPr sz="9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training,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inefficient</a:t>
                      </a:r>
                      <a:r>
                        <a:rPr sz="95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DAG</a:t>
                      </a:r>
                      <a:r>
                        <a:rPr sz="9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processing,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dynamic</a:t>
                      </a:r>
                      <a:r>
                        <a:rPr sz="950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workloads.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reinforcement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6520" marR="137795">
                        <a:lnSpc>
                          <a:spcPct val="105400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learning-based</a:t>
                      </a:r>
                      <a:r>
                        <a:rPr sz="95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resource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scheduler</a:t>
                      </a:r>
                      <a:r>
                        <a:rPr sz="95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9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transformers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optimized</a:t>
                      </a:r>
                      <a:r>
                        <a:rPr sz="95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task</a:t>
                      </a:r>
                      <a:r>
                        <a:rPr sz="95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allocation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low-latency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job</a:t>
                      </a:r>
                      <a:r>
                        <a:rPr sz="95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execution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ts val="2050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95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cloudenvironments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17170">
                        <a:lnSpc>
                          <a:spcPct val="105400"/>
                        </a:lnSpc>
                        <a:spcBef>
                          <a:spcPts val="25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Real-time</a:t>
                      </a:r>
                      <a:r>
                        <a:rPr sz="950" spc="3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scheduler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(A3C-based)</a:t>
                      </a:r>
                      <a:r>
                        <a:rPr sz="95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optimize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latency</a:t>
                      </a:r>
                      <a:r>
                        <a:rPr sz="95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energy</a:t>
                      </a:r>
                      <a:r>
                        <a:rPr sz="950" spc="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stochastic environments.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Training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Complexity</a:t>
                      </a:r>
                      <a:r>
                        <a:rPr sz="95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Time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6623" rIns="0" bIns="0" rtlCol="0">
            <a:spAutoFit/>
          </a:bodyPr>
          <a:lstStyle/>
          <a:p>
            <a:pPr marL="922655">
              <a:lnSpc>
                <a:spcPct val="100000"/>
              </a:lnSpc>
              <a:spcBef>
                <a:spcPts val="105"/>
              </a:spcBef>
            </a:pPr>
            <a:r>
              <a:rPr dirty="0"/>
              <a:t>Research</a:t>
            </a:r>
            <a:r>
              <a:rPr spc="270" dirty="0"/>
              <a:t> </a:t>
            </a:r>
            <a:r>
              <a:rPr spc="-20" dirty="0"/>
              <a:t>Gaps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9872" y="2100516"/>
            <a:ext cx="8597265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13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fragmentation: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dispersed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across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nodes.</a:t>
            </a:r>
            <a:endParaRPr sz="1800">
              <a:latin typeface="Calibri"/>
              <a:cs typeface="Calibri"/>
            </a:endParaRPr>
          </a:p>
          <a:p>
            <a:pPr marL="289560" marR="5080" indent="-277495">
              <a:lnSpc>
                <a:spcPts val="2180"/>
              </a:lnSpc>
              <a:spcBef>
                <a:spcPts val="30"/>
              </a:spcBef>
              <a:buChar char="•"/>
              <a:tabLst>
                <a:tab pos="289560" algn="l"/>
                <a:tab pos="299720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latin typeface="Calibri"/>
                <a:cs typeface="Calibri"/>
              </a:rPr>
              <a:t>Limited</a:t>
            </a:r>
            <a:r>
              <a:rPr sz="1800" b="1" spc="1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computational</a:t>
            </a:r>
            <a:r>
              <a:rPr sz="1800" b="1" spc="114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resources:</a:t>
            </a:r>
            <a:r>
              <a:rPr sz="1800" b="1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refer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constrained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processing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power,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memory, </a:t>
            </a:r>
            <a:r>
              <a:rPr sz="1800" spc="-20" dirty="0">
                <a:latin typeface="Calibri"/>
                <a:cs typeface="Calibri"/>
              </a:rPr>
              <a:t>storage,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energy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availability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ts val="21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Calibri"/>
                <a:cs typeface="Calibri"/>
              </a:rPr>
              <a:t>Security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vulnerabilities: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weaknesses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flaws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system's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implementation,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alibri"/>
                <a:cs typeface="Calibri"/>
              </a:rPr>
              <a:t>code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exploited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attackers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89560" marR="7620" indent="-277495">
              <a:lnSpc>
                <a:spcPct val="100800"/>
              </a:lnSpc>
              <a:spcBef>
                <a:spcPts val="5"/>
              </a:spcBef>
              <a:buChar char="•"/>
              <a:tabLst>
                <a:tab pos="289560" algn="l"/>
                <a:tab pos="299720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latin typeface="Calibri"/>
                <a:cs typeface="Calibri"/>
              </a:rPr>
              <a:t>High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training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complexity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time: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refer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significant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computational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effort,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time,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20" dirty="0">
                <a:latin typeface="Calibri"/>
                <a:cs typeface="Calibri"/>
              </a:rPr>
              <a:t>resources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Proposed</a:t>
            </a:r>
            <a:r>
              <a:rPr spc="-204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652" y="1860867"/>
            <a:ext cx="7877809" cy="30568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9720" marR="5080" indent="-287020">
              <a:lnSpc>
                <a:spcPct val="100800"/>
              </a:lnSpc>
              <a:spcBef>
                <a:spcPts val="85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processing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takes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closer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makes </a:t>
            </a:r>
            <a:r>
              <a:rPr sz="1800" spc="-20" dirty="0">
                <a:latin typeface="Calibri"/>
                <a:cs typeface="Calibri"/>
              </a:rPr>
              <a:t>reduction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Servers.</a:t>
            </a:r>
            <a:endParaRPr sz="1800">
              <a:latin typeface="Calibri"/>
              <a:cs typeface="Calibri"/>
            </a:endParaRPr>
          </a:p>
          <a:p>
            <a:pPr marL="299720" marR="54610" indent="-287655">
              <a:lnSpc>
                <a:spcPct val="100800"/>
              </a:lnSpc>
              <a:spcBef>
                <a:spcPts val="2105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Pruning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Optimization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Inference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Accuracy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risks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dissolved.</a:t>
            </a:r>
            <a:endParaRPr sz="1800">
              <a:latin typeface="Calibri"/>
              <a:cs typeface="Calibri"/>
            </a:endParaRPr>
          </a:p>
          <a:p>
            <a:pPr marL="299720" marR="27305" indent="-287020">
              <a:lnSpc>
                <a:spcPct val="100899"/>
              </a:lnSpc>
              <a:spcBef>
                <a:spcPts val="2175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Processing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Edge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takes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locally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reduce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Security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Privacy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Risks.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99720" marR="43180" indent="-287655">
              <a:lnSpc>
                <a:spcPts val="2100"/>
              </a:lnSpc>
              <a:spcBef>
                <a:spcPts val="5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Devices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Google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Coral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(Edge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TPU)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Nvidia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Jetson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specialized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running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minimal</a:t>
            </a:r>
            <a:r>
              <a:rPr sz="1800" spc="-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resource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consumption.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732" y="833818"/>
            <a:ext cx="519493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Existing</a:t>
            </a:r>
            <a:r>
              <a:rPr spc="-22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734" y="1664906"/>
            <a:ext cx="7423150" cy="330644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220"/>
              </a:spcBef>
            </a:pPr>
            <a:r>
              <a:rPr sz="2000" b="1" spc="-50" dirty="0">
                <a:solidFill>
                  <a:srgbClr val="AB5F0D"/>
                </a:solidFill>
                <a:latin typeface="Calibri"/>
                <a:cs typeface="Calibri"/>
              </a:rPr>
              <a:t>Edge-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Based</a:t>
            </a:r>
            <a:r>
              <a:rPr sz="2000" b="1" spc="45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Data</a:t>
            </a:r>
            <a:r>
              <a:rPr sz="2000" b="1" spc="-45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AB5F0D"/>
                </a:solidFill>
                <a:latin typeface="Calibri"/>
                <a:cs typeface="Calibri"/>
              </a:rPr>
              <a:t>Collection</a:t>
            </a:r>
            <a:r>
              <a:rPr sz="2000" b="1" spc="-60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AB5F0D"/>
                </a:solidFill>
                <a:latin typeface="Calibri"/>
                <a:cs typeface="Calibri"/>
              </a:rPr>
              <a:t> Preprocessing</a:t>
            </a:r>
            <a:endParaRPr sz="2000">
              <a:latin typeface="Calibri"/>
              <a:cs typeface="Calibri"/>
            </a:endParaRPr>
          </a:p>
          <a:p>
            <a:pPr marL="113030" indent="-95885">
              <a:lnSpc>
                <a:spcPct val="100000"/>
              </a:lnSpc>
              <a:spcBef>
                <a:spcPts val="1130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13030" algn="l"/>
              </a:tabLst>
            </a:pP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collection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indicators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transactional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14300" marR="5080" indent="-91440">
              <a:lnSpc>
                <a:spcPts val="2250"/>
              </a:lnSpc>
              <a:spcBef>
                <a:spcPts val="1405"/>
              </a:spcBef>
              <a:buSzPct val="92500"/>
              <a:buFont typeface="Arial MT"/>
              <a:buChar char="•"/>
              <a:tabLst>
                <a:tab pos="114300" algn="l"/>
                <a:tab pos="168275" algn="l"/>
              </a:tabLst>
            </a:pPr>
            <a:r>
              <a:rPr sz="2000" dirty="0">
                <a:solidFill>
                  <a:srgbClr val="E18312"/>
                </a:solidFill>
                <a:latin typeface="Calibri"/>
                <a:cs typeface="Calibri"/>
              </a:rPr>
              <a:t>	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Lightweight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preprocessing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(e.g.,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filtering,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normalization)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done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locally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to reduce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transmission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overhead.</a:t>
            </a:r>
            <a:endParaRPr sz="200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1085"/>
              </a:spcBef>
            </a:pPr>
            <a:r>
              <a:rPr sz="2000" b="1" spc="-50" dirty="0">
                <a:solidFill>
                  <a:srgbClr val="AB5F0D"/>
                </a:solidFill>
                <a:latin typeface="Calibri"/>
                <a:cs typeface="Calibri"/>
              </a:rPr>
              <a:t>Real-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Time</a:t>
            </a:r>
            <a:r>
              <a:rPr sz="2000" b="1" spc="-35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Decision</a:t>
            </a:r>
            <a:r>
              <a:rPr sz="2000" b="1" spc="-110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Making</a:t>
            </a:r>
            <a:r>
              <a:rPr sz="2000" b="1" spc="-60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Using</a:t>
            </a:r>
            <a:r>
              <a:rPr sz="2000" b="1" spc="-105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AB5F0D"/>
                </a:solidFill>
                <a:latin typeface="Calibri"/>
                <a:cs typeface="Calibri"/>
              </a:rPr>
              <a:t>Edge</a:t>
            </a:r>
            <a:r>
              <a:rPr sz="2000" b="1" spc="-50" dirty="0">
                <a:solidFill>
                  <a:srgbClr val="AB5F0D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AB5F0D"/>
                </a:solidFill>
                <a:latin typeface="Calibri"/>
                <a:cs typeface="Calibri"/>
              </a:rPr>
              <a:t>AI:</a:t>
            </a:r>
            <a:endParaRPr sz="2000">
              <a:latin typeface="Calibri"/>
              <a:cs typeface="Calibri"/>
            </a:endParaRPr>
          </a:p>
          <a:p>
            <a:pPr marL="194310" indent="-170815">
              <a:lnSpc>
                <a:spcPct val="100000"/>
              </a:lnSpc>
              <a:spcBef>
                <a:spcPts val="1130"/>
              </a:spcBef>
              <a:buClr>
                <a:srgbClr val="E18312"/>
              </a:buClr>
              <a:buSzPct val="97500"/>
              <a:buFont typeface="Wingdings"/>
              <a:buChar char=""/>
              <a:tabLst>
                <a:tab pos="194310" algn="l"/>
              </a:tabLst>
            </a:pP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Pre-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trained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ML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(e.g.,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LSTM,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CNN)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deployed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endParaRPr sz="2000">
              <a:latin typeface="Calibri"/>
              <a:cs typeface="Calibri"/>
            </a:endParaRPr>
          </a:p>
          <a:p>
            <a:pPr marL="114300" marR="478790" indent="-102870">
              <a:lnSpc>
                <a:spcPts val="2180"/>
              </a:lnSpc>
              <a:spcBef>
                <a:spcPts val="1535"/>
              </a:spcBef>
              <a:buClr>
                <a:srgbClr val="E18312"/>
              </a:buClr>
              <a:buSzPct val="97500"/>
              <a:buFont typeface="Wingdings"/>
              <a:buChar char=""/>
              <a:tabLst>
                <a:tab pos="114300" algn="l"/>
                <a:tab pos="13652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Which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enables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sub-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second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decision-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cases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fraud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detection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dynamic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pricing.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89408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Drawbacks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815" y="1803780"/>
            <a:ext cx="75723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8585" indent="-95885">
              <a:lnSpc>
                <a:spcPct val="100000"/>
              </a:lnSpc>
              <a:spcBef>
                <a:spcPts val="130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08585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Limited</a:t>
            </a:r>
            <a:r>
              <a:rPr sz="2000" b="1" spc="2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b="1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3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2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struggle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</a:t>
            </a:r>
            <a:r>
              <a:rPr sz="2000" spc="3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large,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87" y="2075497"/>
            <a:ext cx="74955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5055" algn="l"/>
                <a:tab pos="1727200" algn="l"/>
                <a:tab pos="2392045" algn="l"/>
                <a:tab pos="3588385" algn="l"/>
                <a:tab pos="4352925" algn="l"/>
                <a:tab pos="5293995" algn="l"/>
                <a:tab pos="594106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sets,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especially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dealing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180" y="2189162"/>
            <a:ext cx="7504430" cy="2705735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7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financial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08585" marR="5080" indent="-96520">
              <a:lnSpc>
                <a:spcPts val="2260"/>
              </a:lnSpc>
              <a:spcBef>
                <a:spcPts val="1470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10489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Computational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Limits: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Running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AI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can 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slow</a:t>
            </a:r>
            <a:r>
              <a:rPr sz="20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due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limited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power.</a:t>
            </a:r>
            <a:endParaRPr sz="2000">
              <a:latin typeface="Calibri"/>
              <a:cs typeface="Calibri"/>
            </a:endParaRPr>
          </a:p>
          <a:p>
            <a:pPr marL="109220" marR="937894" indent="-96520">
              <a:lnSpc>
                <a:spcPts val="2330"/>
              </a:lnSpc>
              <a:spcBef>
                <a:spcPts val="1135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10489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Vulnerabilities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often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physically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more 	accessible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vulnerable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attacks.</a:t>
            </a:r>
            <a:endParaRPr sz="2000">
              <a:latin typeface="Calibri"/>
              <a:cs typeface="Calibri"/>
            </a:endParaRPr>
          </a:p>
          <a:p>
            <a:pPr marL="108585" marR="255904" indent="-96520">
              <a:lnSpc>
                <a:spcPts val="2180"/>
              </a:lnSpc>
              <a:spcBef>
                <a:spcPts val="1315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10489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Limited</a:t>
            </a:r>
            <a:r>
              <a:rPr sz="2000" b="1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20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Accuracy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Federated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learning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lead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suboptimal 	models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because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small,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non-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representative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datasets.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097" y="833818"/>
            <a:ext cx="56559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Proposed</a:t>
            </a:r>
            <a:r>
              <a:rPr spc="-19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3592" y="1798574"/>
            <a:ext cx="7627620" cy="3187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11125" marR="5080" indent="-99060" algn="just">
              <a:lnSpc>
                <a:spcPct val="89200"/>
              </a:lnSpc>
              <a:spcBef>
                <a:spcPts val="390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	Multi-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Layer</a:t>
            </a:r>
            <a:r>
              <a:rPr sz="2000" b="1" spc="30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Implement</a:t>
            </a:r>
            <a:r>
              <a:rPr sz="2000" spc="32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multi-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layer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r>
              <a:rPr sz="2000" spc="30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approach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combining</a:t>
            </a:r>
            <a:r>
              <a:rPr sz="2000" spc="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lightweight</a:t>
            </a:r>
            <a:r>
              <a:rPr sz="20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encryption,</a:t>
            </a:r>
            <a:r>
              <a:rPr sz="2000" spc="4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VPNs,</a:t>
            </a:r>
            <a:r>
              <a:rPr sz="20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firewall</a:t>
            </a:r>
            <a:r>
              <a:rPr sz="2000" spc="4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protections</a:t>
            </a:r>
            <a:r>
              <a:rPr sz="2000" spc="41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at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level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protect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sensitive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111125" marR="15240" indent="-99060" algn="just">
              <a:lnSpc>
                <a:spcPts val="2100"/>
              </a:lnSpc>
              <a:spcBef>
                <a:spcPts val="152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	AI-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Driven</a:t>
            </a:r>
            <a:r>
              <a:rPr sz="2000" b="1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Intrusion</a:t>
            </a:r>
            <a:r>
              <a:rPr sz="2000" b="1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Detection</a:t>
            </a:r>
            <a:r>
              <a:rPr sz="2000" b="1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000" b="1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(IDS):</a:t>
            </a:r>
            <a:r>
              <a:rPr sz="2000" b="1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Integrate</a:t>
            </a:r>
            <a:r>
              <a:rPr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AI-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powered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IDS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continuously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monitor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unusual</a:t>
            </a:r>
            <a:r>
              <a:rPr sz="2000" spc="9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malicious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activity,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reducing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vulnerabilities.</a:t>
            </a:r>
            <a:endParaRPr sz="2000">
              <a:latin typeface="Calibri"/>
              <a:cs typeface="Calibri"/>
            </a:endParaRPr>
          </a:p>
          <a:p>
            <a:pPr marL="111125" marR="7620" indent="-99060" algn="just">
              <a:lnSpc>
                <a:spcPct val="91800"/>
              </a:lnSpc>
              <a:spcBef>
                <a:spcPts val="153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1125" algn="l"/>
                <a:tab pos="13589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	Hybrid</a:t>
            </a:r>
            <a:r>
              <a:rPr sz="2000" b="1" spc="18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Edge-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b="1" spc="20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Preprocessing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resources</a:t>
            </a:r>
            <a:r>
              <a:rPr sz="2000" spc="204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heavy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preprocessing</a:t>
            </a:r>
            <a:r>
              <a:rPr sz="20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tasks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lightweight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filtering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normalization.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hybrid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approach</a:t>
            </a:r>
            <a:r>
              <a:rPr sz="200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reduces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computational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burden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speeds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0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times.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4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74875" algn="l"/>
                <a:tab pos="4593590" algn="l"/>
              </a:tabLst>
            </a:pPr>
            <a:r>
              <a:rPr sz="3950" spc="-10" dirty="0"/>
              <a:t>DETAILED</a:t>
            </a:r>
            <a:r>
              <a:rPr sz="3950" dirty="0"/>
              <a:t>	</a:t>
            </a:r>
            <a:r>
              <a:rPr sz="3950" spc="-10" dirty="0"/>
              <a:t>PROPOSED</a:t>
            </a:r>
            <a:r>
              <a:rPr sz="3950" dirty="0"/>
              <a:t>	</a:t>
            </a:r>
            <a:r>
              <a:rPr sz="3950" spc="-10" dirty="0"/>
              <a:t>METHODOLOGY</a:t>
            </a:r>
            <a:endParaRPr sz="3950"/>
          </a:p>
        </p:txBody>
      </p:sp>
      <p:grpSp>
        <p:nvGrpSpPr>
          <p:cNvPr id="3" name="object 3"/>
          <p:cNvGrpSpPr/>
          <p:nvPr/>
        </p:nvGrpSpPr>
        <p:grpSpPr>
          <a:xfrm>
            <a:off x="962025" y="1800225"/>
            <a:ext cx="7210425" cy="523875"/>
            <a:chOff x="962025" y="1800225"/>
            <a:chExt cx="7210425" cy="523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1800225"/>
              <a:ext cx="1981200" cy="5238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1800225"/>
              <a:ext cx="2762250" cy="523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0225" y="1800225"/>
              <a:ext cx="2562225" cy="523875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84250" y="1822450"/>
          <a:ext cx="7251700" cy="346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solidFill>
                            <a:srgbClr val="E36C09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solidFill>
                            <a:srgbClr val="E36C09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solidFill>
                            <a:srgbClr val="E36C09"/>
                          </a:solidFill>
                          <a:latin typeface="Calibri"/>
                          <a:cs typeface="Calibri"/>
                        </a:rPr>
                        <a:t>Purpose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44145">
                        <a:lnSpc>
                          <a:spcPct val="1008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Learning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(ML)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283210">
                        <a:lnSpc>
                          <a:spcPct val="100800"/>
                        </a:lnSpc>
                        <a:spcBef>
                          <a:spcPts val="8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Trees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Random Forests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167005">
                        <a:lnSpc>
                          <a:spcPct val="100800"/>
                        </a:lnSpc>
                        <a:spcBef>
                          <a:spcPts val="8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Rule-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ensemble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675640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K-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Nearest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Neighbors (KNN)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808355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Localized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 recognition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654050">
                        <a:lnSpc>
                          <a:spcPct val="100899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Gradient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Boosting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(XGBoost,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LightGBM, CatBoost)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16280">
                        <a:lnSpc>
                          <a:spcPct val="1008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decisions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Neural Networks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(shallow)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08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140335">
                        <a:lnSpc>
                          <a:spcPct val="1008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Pattern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recognition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inference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Sample</a:t>
            </a:r>
            <a:r>
              <a:rPr spc="-220" dirty="0"/>
              <a:t> </a:t>
            </a:r>
            <a:r>
              <a:rPr spc="-2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1981200"/>
            <a:ext cx="816292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Packages</a:t>
            </a:r>
            <a:r>
              <a:rPr spc="-215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152" y="1975802"/>
            <a:ext cx="7668895" cy="2795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PANDAS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Manipulation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(cleaning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aggregating)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Wingdings"/>
              <a:buChar char="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NUMPY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Numerical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CLV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calculations)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Wingdings"/>
              <a:buChar char=""/>
            </a:pPr>
            <a:endParaRPr sz="2000">
              <a:latin typeface="Arial MT"/>
              <a:cs typeface="Arial MT"/>
            </a:endParaRPr>
          </a:p>
          <a:p>
            <a:pPr marL="355600" marR="5080" indent="-343535">
              <a:lnSpc>
                <a:spcPts val="2180"/>
              </a:lnSpc>
              <a:buFont typeface="Wingdings"/>
              <a:buChar char=""/>
              <a:tabLst>
                <a:tab pos="355600" algn="l"/>
                <a:tab pos="425450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 MT"/>
                <a:cs typeface="Arial MT"/>
              </a:rPr>
              <a:t>SCI-</a:t>
            </a:r>
            <a:r>
              <a:rPr sz="2000" dirty="0">
                <a:latin typeface="Arial MT"/>
                <a:cs typeface="Arial MT"/>
              </a:rPr>
              <a:t>KIT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(Linear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Regression, </a:t>
            </a:r>
            <a:r>
              <a:rPr sz="2000" dirty="0">
                <a:latin typeface="Arial MT"/>
                <a:cs typeface="Arial MT"/>
              </a:rPr>
              <a:t>Lasso,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Decision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Trees)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Wingdings"/>
              <a:buChar char=""/>
            </a:pPr>
            <a:endParaRPr sz="2000">
              <a:latin typeface="Arial MT"/>
              <a:cs typeface="Arial MT"/>
            </a:endParaRPr>
          </a:p>
          <a:p>
            <a:pPr marL="425450" indent="-412750">
              <a:lnSpc>
                <a:spcPts val="2250"/>
              </a:lnSpc>
              <a:buFont typeface="Wingdings"/>
              <a:buChar char=""/>
              <a:tabLst>
                <a:tab pos="425450" algn="l"/>
              </a:tabLst>
            </a:pPr>
            <a:r>
              <a:rPr sz="2000" dirty="0">
                <a:latin typeface="Arial MT"/>
                <a:cs typeface="Arial MT"/>
              </a:rPr>
              <a:t>MATPLOTLIB/SEARBORN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Visualization.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(CLV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trends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ts val="2250"/>
              </a:lnSpc>
            </a:pPr>
            <a:r>
              <a:rPr sz="2000" dirty="0">
                <a:latin typeface="Arial MT"/>
                <a:cs typeface="Arial MT"/>
              </a:rPr>
              <a:t>customer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359" y="1004824"/>
            <a:ext cx="35350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Result</a:t>
            </a:r>
            <a:r>
              <a:rPr spc="-215" dirty="0"/>
              <a:t> </a:t>
            </a:r>
            <a:r>
              <a:rPr spc="-2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800225"/>
            <a:ext cx="3943350" cy="33623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5850" y="1819275"/>
            <a:ext cx="3943350" cy="334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362" y="5364797"/>
            <a:ext cx="2125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trees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115" y="5364797"/>
            <a:ext cx="1982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Matrix 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CatBoost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1828800"/>
            <a:ext cx="7877175" cy="2987675"/>
            <a:chOff x="762000" y="1828800"/>
            <a:chExt cx="7877175" cy="2987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1828800"/>
              <a:ext cx="7877175" cy="2895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4775" y="4761337"/>
              <a:ext cx="54951" cy="5495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4775" y="1590675"/>
            <a:ext cx="8934450" cy="3676650"/>
            <a:chOff x="104775" y="1590675"/>
            <a:chExt cx="8934450" cy="36766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964" y="2084125"/>
              <a:ext cx="17859" cy="178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775" y="1590675"/>
              <a:ext cx="8934450" cy="3676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605" y="833818"/>
            <a:ext cx="392112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Software</a:t>
            </a:r>
            <a:r>
              <a:rPr spc="-22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815" y="1804288"/>
            <a:ext cx="39585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8585" indent="-95885">
              <a:lnSpc>
                <a:spcPct val="100000"/>
              </a:lnSpc>
              <a:spcBef>
                <a:spcPts val="130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08585" algn="l"/>
                <a:tab pos="775970" algn="l"/>
                <a:tab pos="2051685" algn="l"/>
                <a:tab pos="3129915" algn="l"/>
                <a:tab pos="3822065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plays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628" y="1804288"/>
            <a:ext cx="34861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58519" algn="l"/>
                <a:tab pos="1430655" algn="l"/>
                <a:tab pos="1791970" algn="l"/>
                <a:tab pos="297307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crucial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role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managing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815" y="2079307"/>
            <a:ext cx="7621905" cy="132651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09855" marR="5080" algn="just">
              <a:lnSpc>
                <a:spcPct val="87700"/>
              </a:lnSpc>
              <a:spcBef>
                <a:spcPts val="42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resources,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orchestrating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tasks,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ensuring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seamless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communication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34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centralized systems.</a:t>
            </a:r>
            <a:endParaRPr sz="2000">
              <a:latin typeface="Calibri"/>
              <a:cs typeface="Calibri"/>
            </a:endParaRPr>
          </a:p>
          <a:p>
            <a:pPr marL="109220" indent="-96520">
              <a:lnSpc>
                <a:spcPct val="100000"/>
              </a:lnSpc>
              <a:spcBef>
                <a:spcPts val="1205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0922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sz="2000" spc="2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KubeEdge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2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AWS</a:t>
            </a:r>
            <a:r>
              <a:rPr sz="2000" b="1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IoT</a:t>
            </a:r>
            <a:r>
              <a:rPr sz="2000" b="1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Greengrass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Azure</a:t>
            </a:r>
            <a:r>
              <a:rPr sz="2000" b="1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IoT</a:t>
            </a:r>
            <a:r>
              <a:rPr sz="2000" b="1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287" y="3352228"/>
            <a:ext cx="74942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39775" algn="l"/>
                <a:tab pos="1713230" algn="l"/>
                <a:tab pos="2300605" algn="l"/>
                <a:tab pos="3379470" algn="l"/>
                <a:tab pos="4598670" algn="l"/>
                <a:tab pos="5140325" algn="l"/>
                <a:tab pos="6050280" algn="l"/>
                <a:tab pos="6408420" algn="l"/>
                <a:tab pos="6906895" algn="l"/>
              </a:tabLst>
            </a:pP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Open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Horizon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manages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workloads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models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edge;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497" y="3508438"/>
            <a:ext cx="7586345" cy="11798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7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supports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containerized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deployments.</a:t>
            </a:r>
            <a:endParaRPr sz="2000">
              <a:latin typeface="Calibri"/>
              <a:cs typeface="Calibri"/>
            </a:endParaRPr>
          </a:p>
          <a:p>
            <a:pPr marL="109220" indent="-96520">
              <a:lnSpc>
                <a:spcPts val="2365"/>
              </a:lnSpc>
              <a:spcBef>
                <a:spcPts val="980"/>
              </a:spcBef>
              <a:buClr>
                <a:srgbClr val="E18312"/>
              </a:buClr>
              <a:buSzPct val="92500"/>
              <a:buFont typeface="Arial MT"/>
              <a:buChar char="•"/>
              <a:tabLst>
                <a:tab pos="109220" algn="l"/>
                <a:tab pos="1365885" algn="l"/>
                <a:tab pos="2505075" algn="l"/>
                <a:tab pos="3030220" algn="l"/>
                <a:tab pos="4719320" algn="l"/>
                <a:tab pos="5065395" algn="l"/>
                <a:tab pos="6205220" algn="l"/>
                <a:tab pos="703199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Immediate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collection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transformation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signals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endParaRPr sz="2000">
              <a:latin typeface="Calibri"/>
              <a:cs typeface="Calibri"/>
            </a:endParaRPr>
          </a:p>
          <a:p>
            <a:pPr marL="109855">
              <a:lnSpc>
                <a:spcPts val="2365"/>
              </a:lnSpc>
            </a:pP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Apache</a:t>
            </a:r>
            <a:r>
              <a:rPr sz="2000" i="1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Kafka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Apache</a:t>
            </a:r>
            <a:r>
              <a:rPr sz="20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Pulsar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Redpanda.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4125"/>
            <a:ext cx="9144000" cy="523875"/>
            <a:chOff x="0" y="6334125"/>
            <a:chExt cx="9144000" cy="523875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A55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4125"/>
              <a:ext cx="9144000" cy="66675"/>
            </a:xfrm>
            <a:custGeom>
              <a:avLst/>
              <a:gdLst/>
              <a:ahLst/>
              <a:cxnLst/>
              <a:rect l="l" t="t" r="r" b="b"/>
              <a:pathLst>
                <a:path w="9144000" h="66675">
                  <a:moveTo>
                    <a:pt x="914400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9144000" y="666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1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8451" y="1709166"/>
          <a:ext cx="7567295" cy="294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92075">
                        <a:lnSpc>
                          <a:spcPts val="214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8312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14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APPLICATIONS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1395">
                <a:tc>
                  <a:txBody>
                    <a:bodyPr/>
                    <a:lstStyle/>
                    <a:p>
                      <a:pPr marL="169545" indent="-88900">
                        <a:lnSpc>
                          <a:spcPct val="100000"/>
                        </a:lnSpc>
                        <a:buSzPct val="94444"/>
                        <a:buFont typeface="Arial MT"/>
                        <a:buChar char="•"/>
                        <a:tabLst>
                          <a:tab pos="169545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Reduced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latency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69545" indent="-88900">
                        <a:lnSpc>
                          <a:spcPct val="100000"/>
                        </a:lnSpc>
                        <a:spcBef>
                          <a:spcPts val="20"/>
                        </a:spcBef>
                        <a:buSzPct val="94444"/>
                        <a:buFont typeface="Arial MT"/>
                        <a:buChar char="•"/>
                        <a:tabLst>
                          <a:tab pos="1695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Improves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time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69545" indent="-88900">
                        <a:lnSpc>
                          <a:spcPct val="100000"/>
                        </a:lnSpc>
                        <a:spcBef>
                          <a:spcPts val="20"/>
                        </a:spcBef>
                        <a:buSzPct val="94444"/>
                        <a:buFont typeface="Arial MT"/>
                        <a:buChar char="•"/>
                        <a:tabLst>
                          <a:tab pos="16954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Enhances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privacy.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69545" indent="-88900">
                        <a:lnSpc>
                          <a:spcPct val="100000"/>
                        </a:lnSpc>
                        <a:spcBef>
                          <a:spcPts val="15"/>
                        </a:spcBef>
                        <a:buSzPct val="94444"/>
                        <a:buFont typeface="Arial MT"/>
                        <a:buChar char="•"/>
                        <a:tabLst>
                          <a:tab pos="16954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Managing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distributed systems.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79070" indent="-88900">
                        <a:lnSpc>
                          <a:spcPts val="2130"/>
                        </a:lnSpc>
                        <a:buSzPct val="94444"/>
                        <a:buFont typeface="Arial MT"/>
                        <a:buChar char="•"/>
                        <a:tabLst>
                          <a:tab pos="179070" algn="l"/>
                        </a:tabLst>
                      </a:pPr>
                      <a:r>
                        <a:rPr sz="1800" spc="-45" dirty="0">
                          <a:latin typeface="Calibri"/>
                          <a:cs typeface="Calibri"/>
                        </a:rPr>
                        <a:t>High-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Trading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(HFT)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0965" marR="92075" indent="-10795">
                        <a:lnSpc>
                          <a:spcPts val="2180"/>
                        </a:lnSpc>
                        <a:spcBef>
                          <a:spcPts val="30"/>
                        </a:spcBef>
                        <a:buSzPct val="94444"/>
                        <a:buFont typeface="Arial MT"/>
                        <a:buChar char="•"/>
                        <a:tabLst>
                          <a:tab pos="100965" algn="l"/>
                          <a:tab pos="179070" algn="l"/>
                          <a:tab pos="1056005" algn="l"/>
                          <a:tab pos="2310130" algn="l"/>
                          <a:tab pos="282765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	Fraud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Financial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Transactions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0965" marR="68580" indent="-10795">
                        <a:lnSpc>
                          <a:spcPts val="2330"/>
                        </a:lnSpc>
                        <a:spcBef>
                          <a:spcPts val="25"/>
                        </a:spcBef>
                        <a:buSzPct val="94444"/>
                        <a:buFont typeface="Arial MT"/>
                        <a:buChar char="•"/>
                        <a:tabLst>
                          <a:tab pos="100965" algn="l"/>
                          <a:tab pos="179070" algn="l"/>
                          <a:tab pos="1149350" algn="l"/>
                          <a:tab pos="1939289" algn="l"/>
                          <a:tab pos="2272030" algn="l"/>
                          <a:tab pos="2955925" algn="l"/>
                          <a:tab pos="3469004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	Dynamic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Pricing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Retail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E-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commerce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9327" y="676274"/>
            <a:ext cx="37439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000000"/>
                </a:solidFill>
              </a:rPr>
              <a:t>Advantages</a:t>
            </a:r>
            <a:r>
              <a:rPr sz="2750" spc="-65" dirty="0">
                <a:solidFill>
                  <a:srgbClr val="000000"/>
                </a:solidFill>
              </a:rPr>
              <a:t> </a:t>
            </a:r>
            <a:r>
              <a:rPr sz="2750" dirty="0">
                <a:solidFill>
                  <a:srgbClr val="000000"/>
                </a:solidFill>
              </a:rPr>
              <a:t>&amp;</a:t>
            </a:r>
            <a:r>
              <a:rPr sz="2750" spc="-125" dirty="0">
                <a:solidFill>
                  <a:srgbClr val="000000"/>
                </a:solidFill>
              </a:rPr>
              <a:t> </a:t>
            </a:r>
            <a:r>
              <a:rPr sz="2750" spc="-10" dirty="0">
                <a:solidFill>
                  <a:srgbClr val="000000"/>
                </a:solidFill>
              </a:rPr>
              <a:t>Applications</a:t>
            </a:r>
            <a:endParaRPr sz="27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725" y="2023681"/>
            <a:ext cx="7776209" cy="19850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ct val="90200"/>
              </a:lnSpc>
              <a:spcBef>
                <a:spcPts val="36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40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4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4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helps</a:t>
            </a:r>
            <a:r>
              <a:rPr sz="2000" spc="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45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economic</a:t>
            </a:r>
            <a:r>
              <a:rPr sz="2000" spc="4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40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much</a:t>
            </a:r>
            <a:r>
              <a:rPr sz="2000" spc="4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faster</a:t>
            </a:r>
            <a:r>
              <a:rPr sz="200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close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20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it’s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collected,</a:t>
            </a:r>
            <a:r>
              <a:rPr sz="20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sz="20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sending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cloud.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reduces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delay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(latency)</a:t>
            </a:r>
            <a:r>
              <a:rPr sz="2000" spc="9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allows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actions,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like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adjusting</a:t>
            </a:r>
            <a:r>
              <a:rPr sz="2000" spc="2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prices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managing</a:t>
            </a:r>
            <a:r>
              <a:rPr sz="2000" spc="2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supply</a:t>
            </a:r>
            <a:r>
              <a:rPr sz="2000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quickly.</a:t>
            </a:r>
            <a:r>
              <a:rPr sz="20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stays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accurate,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works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well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weak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internet,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keeps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secure.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Overall,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3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smart</a:t>
            </a:r>
            <a:r>
              <a:rPr sz="2000" spc="3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20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3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faster</a:t>
            </a:r>
            <a:r>
              <a:rPr sz="2000" spc="3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better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in today’s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fast-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moving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world.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9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Future</a:t>
            </a:r>
            <a:r>
              <a:rPr spc="-229" dirty="0"/>
              <a:t> </a:t>
            </a:r>
            <a:r>
              <a:rPr spc="-10" dirty="0"/>
              <a:t>Scopes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882" y="1783016"/>
            <a:ext cx="8134984" cy="36156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14935" marR="5080" indent="-102235">
              <a:lnSpc>
                <a:spcPct val="89200"/>
              </a:lnSpc>
              <a:spcBef>
                <a:spcPts val="38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4935" algn="l"/>
                <a:tab pos="136525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	Autonomous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000" b="1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Logistics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:In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sectors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transportation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logistics, edge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0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enable</a:t>
            </a:r>
            <a:r>
              <a:rPr sz="2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autonomous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vehicles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drones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split-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second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improving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operational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reducing</a:t>
            </a:r>
            <a:r>
              <a:rPr sz="20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costs.</a:t>
            </a:r>
            <a:endParaRPr sz="2000">
              <a:latin typeface="Calibri"/>
              <a:cs typeface="Calibri"/>
            </a:endParaRPr>
          </a:p>
          <a:p>
            <a:pPr marL="114935" marR="147955" indent="-102235">
              <a:lnSpc>
                <a:spcPts val="2100"/>
              </a:lnSpc>
              <a:spcBef>
                <a:spcPts val="152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4935" algn="l"/>
                <a:tab pos="136525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	5G</a:t>
            </a:r>
            <a:r>
              <a:rPr sz="2000" b="1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Enhancements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:As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5G</a:t>
            </a:r>
            <a:r>
              <a:rPr sz="20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expands, it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will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supercharge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edge computing’s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potential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enabling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ultra-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latency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connectivity,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especially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remote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speed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cases.</a:t>
            </a:r>
            <a:endParaRPr sz="2000">
              <a:latin typeface="Calibri"/>
              <a:cs typeface="Calibri"/>
            </a:endParaRPr>
          </a:p>
          <a:p>
            <a:pPr marL="114935" marR="501015" indent="-102235">
              <a:lnSpc>
                <a:spcPct val="87700"/>
              </a:lnSpc>
              <a:spcBef>
                <a:spcPts val="1485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4935" algn="l"/>
                <a:tab pos="136525" algn="l"/>
              </a:tabLst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	Agricultural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Economics</a:t>
            </a:r>
            <a:r>
              <a:rPr sz="20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Smart</a:t>
            </a:r>
            <a:r>
              <a:rPr sz="20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Farming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Sensors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0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agriculture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decisions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irrigation,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fertilization,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harvesting.</a:t>
            </a:r>
            <a:endParaRPr sz="2000">
              <a:latin typeface="Calibri"/>
              <a:cs typeface="Calibri"/>
            </a:endParaRPr>
          </a:p>
          <a:p>
            <a:pPr marL="114935" marR="530860" indent="-101600">
              <a:lnSpc>
                <a:spcPts val="2330"/>
              </a:lnSpc>
              <a:spcBef>
                <a:spcPts val="1340"/>
              </a:spcBef>
              <a:buClr>
                <a:srgbClr val="E18312"/>
              </a:buClr>
              <a:buSzPct val="92500"/>
              <a:buFont typeface="Wingdings"/>
              <a:buChar char=""/>
              <a:tabLst>
                <a:tab pos="114935" algn="l"/>
                <a:tab pos="136525" algn="l"/>
              </a:tabLst>
            </a:pP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	Healthcare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Telemedicine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:Hospitals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cost-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effective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decisions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patient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monitoring.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517" y="1885378"/>
            <a:ext cx="7703184" cy="387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Bharath</a:t>
            </a:r>
            <a:r>
              <a:rPr sz="1400" spc="20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Kumar</a:t>
            </a:r>
            <a:r>
              <a:rPr sz="1400" spc="2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Gaddam(2024):</a:t>
            </a:r>
            <a:r>
              <a:rPr sz="14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Edge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Computing</a:t>
            </a:r>
            <a:r>
              <a:rPr sz="1400" spc="4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8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Financial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Analytics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"/>
            </a:pP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Tariq</a:t>
            </a:r>
            <a:r>
              <a:rPr sz="1400" spc="44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Al-</a:t>
            </a:r>
            <a:r>
              <a:rPr sz="1400" dirty="0">
                <a:latin typeface="Calibri"/>
                <a:cs typeface="Calibri"/>
              </a:rPr>
              <a:t>Momani,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Maysa</a:t>
            </a:r>
            <a:r>
              <a:rPr sz="1400" spc="49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Al-</a:t>
            </a:r>
            <a:r>
              <a:rPr sz="1400" spc="-10" dirty="0">
                <a:latin typeface="Calibri"/>
                <a:cs typeface="Calibri"/>
              </a:rPr>
              <a:t>Hussein(2023):Edge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1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spc="-45" dirty="0">
                <a:latin typeface="Calibri"/>
                <a:cs typeface="Calibri"/>
              </a:rPr>
              <a:t>real-</a:t>
            </a:r>
            <a:r>
              <a:rPr sz="1400" spc="-40" dirty="0">
                <a:latin typeface="Calibri"/>
                <a:cs typeface="Calibri"/>
              </a:rPr>
              <a:t>time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decision-</a:t>
            </a:r>
            <a:r>
              <a:rPr sz="1400" spc="-10" dirty="0">
                <a:latin typeface="Calibri"/>
                <a:cs typeface="Calibri"/>
              </a:rPr>
              <a:t>making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Wingdings"/>
              <a:buChar char=""/>
            </a:pP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Haftay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G.</a:t>
            </a:r>
            <a:r>
              <a:rPr sz="1400" spc="-8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Abreha(2022):</a:t>
            </a:r>
            <a:r>
              <a:rPr sz="1400" spc="22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Federated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learning</a:t>
            </a:r>
            <a:r>
              <a:rPr sz="1400" spc="10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edge</a:t>
            </a:r>
            <a:r>
              <a:rPr sz="1400" spc="105" dirty="0">
                <a:latin typeface="Calibri"/>
                <a:cs typeface="Calibri"/>
              </a:rPr>
              <a:t>  </a:t>
            </a:r>
            <a:r>
              <a:rPr sz="1400" spc="-10" dirty="0">
                <a:latin typeface="Calibri"/>
                <a:cs typeface="Calibri"/>
              </a:rPr>
              <a:t>computing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Shreshth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Tuli,</a:t>
            </a:r>
            <a:r>
              <a:rPr sz="1400" spc="18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S.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Ilager(2020):Scheduling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19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edge-</a:t>
            </a:r>
            <a:r>
              <a:rPr sz="1400" dirty="0">
                <a:latin typeface="Calibri"/>
                <a:cs typeface="Calibri"/>
              </a:rPr>
              <a:t>cloud</a:t>
            </a:r>
            <a:r>
              <a:rPr sz="1400" spc="25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using</a:t>
            </a:r>
            <a:r>
              <a:rPr sz="1400" spc="-9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reinforcement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learning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Premsankar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al.Edge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computing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Internet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Things: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study.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IEEE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Internet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Things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J.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2018,</a:t>
            </a:r>
            <a:endParaRPr sz="14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425"/>
              </a:spcBef>
            </a:pPr>
            <a:r>
              <a:rPr sz="1400" dirty="0">
                <a:latin typeface="Calibri"/>
                <a:cs typeface="Calibri"/>
              </a:rPr>
              <a:t>5,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1275–1284.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650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Björkdahl,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J.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Strategies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digitalization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manufacturing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firms.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Calif.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Manag.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Zhao,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Liang,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 </a:t>
            </a:r>
            <a:r>
              <a:rPr sz="1400" spc="-25" dirty="0">
                <a:latin typeface="Calibri"/>
                <a:cs typeface="Calibri"/>
              </a:rPr>
              <a:t>Real-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Economic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Forecasting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Edge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Computing.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IEEE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Access,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2021.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425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Chen,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Min,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 AI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Edge: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Real-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Decision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Making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Economic</a:t>
            </a:r>
            <a:r>
              <a:rPr sz="1400" spc="-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Systems.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IEEE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Network,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2021.</a:t>
            </a:r>
            <a:endParaRPr sz="14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Zhang,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Qi,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Edge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Computing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Paradigm: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Research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Challenges.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IEEE</a:t>
            </a:r>
            <a:endParaRPr sz="14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430"/>
              </a:spcBef>
            </a:pPr>
            <a:r>
              <a:rPr sz="1400" spc="-10" dirty="0">
                <a:latin typeface="Calibri"/>
                <a:cs typeface="Calibri"/>
              </a:rPr>
              <a:t>Communications </a:t>
            </a:r>
            <a:r>
              <a:rPr sz="1400" dirty="0">
                <a:latin typeface="Calibri"/>
                <a:cs typeface="Calibri"/>
              </a:rPr>
              <a:t>Magazine,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2017.</a:t>
            </a:r>
            <a:endParaRPr sz="1400">
              <a:latin typeface="Calibri"/>
              <a:cs typeface="Calibri"/>
            </a:endParaRPr>
          </a:p>
          <a:p>
            <a:pPr marL="299720" marR="196850" indent="-287020">
              <a:lnSpc>
                <a:spcPct val="125099"/>
              </a:lnSpc>
              <a:buFont typeface="Wingdings"/>
              <a:buChar char=""/>
              <a:tabLst>
                <a:tab pos="299720" algn="l"/>
              </a:tabLst>
            </a:pPr>
            <a:r>
              <a:rPr sz="1400" dirty="0">
                <a:latin typeface="Calibri"/>
                <a:cs typeface="Calibri"/>
              </a:rPr>
              <a:t>Xu,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Zongpeng,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Real-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Analytics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Financial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Applications.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IEEE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Transactions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Big </a:t>
            </a:r>
            <a:r>
              <a:rPr sz="1400" dirty="0">
                <a:latin typeface="Calibri"/>
                <a:cs typeface="Calibri"/>
              </a:rPr>
              <a:t>Data,</a:t>
            </a:r>
            <a:r>
              <a:rPr sz="1400" spc="-10" dirty="0">
                <a:latin typeface="Calibri"/>
                <a:cs typeface="Calibri"/>
              </a:rPr>
              <a:t> 2019.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8050" y="2565653"/>
            <a:ext cx="401701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b="1" dirty="0">
                <a:latin typeface="Times New Roman"/>
                <a:cs typeface="Times New Roman"/>
              </a:rPr>
              <a:t>Thank</a:t>
            </a:r>
            <a:r>
              <a:rPr sz="6600" b="1" spc="-380" dirty="0">
                <a:latin typeface="Times New Roman"/>
                <a:cs typeface="Times New Roman"/>
              </a:rPr>
              <a:t> </a:t>
            </a:r>
            <a:r>
              <a:rPr sz="6600" b="1" spc="-475" dirty="0">
                <a:latin typeface="Times New Roman"/>
                <a:cs typeface="Times New Roman"/>
              </a:rPr>
              <a:t>Y</a:t>
            </a:r>
            <a:r>
              <a:rPr sz="6600" b="1" spc="100" dirty="0">
                <a:latin typeface="Times New Roman"/>
                <a:cs typeface="Times New Roman"/>
              </a:rPr>
              <a:t>ou</a:t>
            </a:r>
            <a:endParaRPr sz="6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1699</Words>
  <Application>Microsoft Office PowerPoint</Application>
  <PresentationFormat>On-screen Show (4:3)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 MT</vt:lpstr>
      <vt:lpstr>Calibri</vt:lpstr>
      <vt:lpstr>Calibri Light</vt:lpstr>
      <vt:lpstr>Times New Roman</vt:lpstr>
      <vt:lpstr>Wingdings</vt:lpstr>
      <vt:lpstr>Office Theme</vt:lpstr>
      <vt:lpstr>EMPOWERING REAL – TIME ECONOMIC DECISIONS THROUGH EDGE COMPUTING FOR MINIMAL LATENCY</vt:lpstr>
      <vt:lpstr>Index</vt:lpstr>
      <vt:lpstr>Abstract</vt:lpstr>
      <vt:lpstr>Introduction</vt:lpstr>
      <vt:lpstr>Motivation</vt:lpstr>
      <vt:lpstr>Problem Definition</vt:lpstr>
      <vt:lpstr>Literature Survey</vt:lpstr>
      <vt:lpstr>Research Gaps</vt:lpstr>
      <vt:lpstr>Proposed System</vt:lpstr>
      <vt:lpstr>Existing Methodology</vt:lpstr>
      <vt:lpstr>Drawbacks</vt:lpstr>
      <vt:lpstr>Proposed Methodology</vt:lpstr>
      <vt:lpstr>DETAILED PROPOSED METHODOLOGY</vt:lpstr>
      <vt:lpstr>Sample Code</vt:lpstr>
      <vt:lpstr>Packages used</vt:lpstr>
      <vt:lpstr>Result Analysis</vt:lpstr>
      <vt:lpstr>PowerPoint Presentation</vt:lpstr>
      <vt:lpstr>Software Details</vt:lpstr>
      <vt:lpstr>Advantages &amp; Applications</vt:lpstr>
      <vt:lpstr>Conclusion</vt:lpstr>
      <vt:lpstr>Future Scopes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santosh kosuri</cp:lastModifiedBy>
  <cp:revision>1</cp:revision>
  <dcterms:created xsi:type="dcterms:W3CDTF">2025-06-16T16:35:54Z</dcterms:created>
  <dcterms:modified xsi:type="dcterms:W3CDTF">2026-07-23T15:58:43Z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2025-06-08T00:00:00Z</vt:filetime>
  </property>
  <property fmtid="{D5CDD505-2E9C-101B-9397-08002B2CF9AE}" pid="3" name="LastSaved">
    <vt:filetime>2025-06-16T00:00:00Z</vt:filetime>
  </property>
</Properties>
</file>